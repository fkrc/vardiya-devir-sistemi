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54864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3" name="Oval 2"/>
          <p:cNvSpPr/>
          <p:nvPr/>
        </p:nvSpPr>
        <p:spPr>
          <a:xfrm>
            <a:off x="11155680" y="1188720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173736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11430000" y="576072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6263640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İŞ ANALİZİ TOPLANTISI SUNUMU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VARDİYA DEVİR SİSTEMİ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Uydu Kontrol ve NOC Operasyonları için Rol Bazlı,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Dijital Vardiya Teslim Platformu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709160"/>
            <a:ext cx="2788920" cy="0"/>
          </a:xfrm>
          <a:prstGeom prst="line">
            <a:avLst/>
          </a:prstGeom>
          <a:ln w="2540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BB5"/>
                </a:solidFill>
                <a:latin typeface="Calibri"/>
              </a:rPr>
              <a:t>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GÜNDEM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Bugün Neye Bakacağız?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18745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91640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Problem ve İhtiyaç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70632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295351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70632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Çözüm Özeti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49624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403250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49624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Roller ve Yetkilendirme (RBAC)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28616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5111496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28616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Sistem Mimarisi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691640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9128" y="18745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691640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Veritabanı Yapısı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770632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39128" y="295351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70632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İş Akışı ve Form Statüleri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849624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39128" y="403250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849624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Son Sprint: Güvenlik Geliştirmeleri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928616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9128" y="5111496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928616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D3D"/>
                </a:solidFill>
                <a:latin typeface="Calibri"/>
              </a:rPr>
              <a:t>Yeni Özellik: Alan Geçmişi Rehberi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MEVCUT DURUM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Problem: Manuel Vardiya Teslim Süreci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69494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mbria"/>
              </a:rPr>
              <a:t>Saha Ekiplerinin Karşılaştığı Riskler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6309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D3D"/>
                </a:solidFill>
                <a:latin typeface="Calibri"/>
              </a:rPr>
              <a:t>Kağıt / Excel tabanlı, birimden birime değişen standart olmayan formlar</a:t>
            </a:r>
          </a:p>
          <a:p>
            <a:pPr>
              <a:spcAft>
                <a:spcPts val="16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D3D"/>
                </a:solidFill>
                <a:latin typeface="Calibri"/>
              </a:rPr>
              <a:t>Geçmiş kayıtlara hızlı erişim yok — tekrarlayan anomaliler fark edilmiyor</a:t>
            </a:r>
          </a:p>
          <a:p>
            <a:pPr>
              <a:spcAft>
                <a:spcPts val="16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D3D"/>
                </a:solidFill>
                <a:latin typeface="Calibri"/>
              </a:rPr>
              <a:t>Onay süreci izlenemiyor: kim, ne zaman, hangi kaydı onayladı belirsiz</a:t>
            </a:r>
          </a:p>
          <a:p>
            <a:pPr>
              <a:spcAft>
                <a:spcPts val="16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D3D"/>
                </a:solidFill>
                <a:latin typeface="Calibri"/>
              </a:rPr>
              <a:t>UHGM / UKOM birimleri arası veri karışması ve yetkisiz erişim riski</a:t>
            </a:r>
          </a:p>
          <a:p>
            <a:pPr>
              <a:spcAft>
                <a:spcPts val="16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D3D"/>
                </a:solidFill>
                <a:latin typeface="Calibri"/>
              </a:rPr>
              <a:t>Denetim / iz kaydı (audit trail) eksik — sorumluluk tespiti zor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417320"/>
            <a:ext cx="4023360" cy="4572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F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0" y="1783080"/>
            <a:ext cx="914400" cy="91440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88036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Cambria"/>
              </a:rPr>
              <a:t>Sonuç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429000"/>
            <a:ext cx="3474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F2D3D"/>
                </a:solidFill>
                <a:latin typeface="Calibri"/>
              </a:rPr>
              <a:t>Operasyonel süreklilik, doğrudan kişilerin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F2D3D"/>
                </a:solidFill>
                <a:latin typeface="Calibri"/>
              </a:rPr>
              <a:t>hafızasına ve manuel takibe bağımlı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F2D3D"/>
                </a:solidFill>
                <a:latin typeface="Calibri"/>
              </a:rPr>
              <a:t>kalıyor; kurumsal hafıza korunamıyor.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ÇÖZÜM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Dijital, Rol Bazlı Vardiya Devir Platformu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73352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733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Dinamik Formlar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Form soruları backend'den JSON şema ile gelir; koda gömülü değildir. Şarta bağlı sorular (dependsOn) desteklenir.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167335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733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Rol ve Birim İzolasyonu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19456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PERSONNEL / MANAGER rolleri ile UHGM / UKOM birim ayrımı artık sunucu tarafında zorunlu kılınıyor.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4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00507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0507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Hiyerarşik Onay Süreci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2628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DRAFT (Sepette) → Yönetici Onayı Bekliyor → Tamamlandı; her adım kayıt altında.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4904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4005072"/>
            <a:ext cx="548640" cy="54864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00507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Akıllı Rehberlik (Yeni)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52628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Form alanının yanındaki "i" butonu, o alana son 10 günde girilmiş değerleri gösterir.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ERIŞIM KONTROLÜ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Roller ve Yetkilendirme (RBAC)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83080"/>
            <a:ext cx="3977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mbria"/>
              </a:rPr>
              <a:t>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Kendi biriminin form kataloğundan yeni vardiya formu başlatır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FormWizard ile adım adım doldurur, sepete ekler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Dashboard'da SADECE kendi oluşturduğu formları görür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Onaylama yetkisi yoktur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46520" y="1737360"/>
            <a:ext cx="594360" cy="5943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83080"/>
            <a:ext cx="3977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Cambria"/>
              </a:rP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Yeni form başlatamaz — sadece inceleme / onay rolündedir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Dashboard'da SADECE kendi biriminin onay bekleyen formlarını görür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Form Detayı'nda "Yönetici Olarak Onayla" yetkisine sahiptir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F2D3D"/>
                </a:solidFill>
                <a:latin typeface="Calibri"/>
              </a:rPr>
              <a:t>Onay, sunucu tarafında rol + birim eşleşmesi ile doğrulanır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60720"/>
            <a:ext cx="11185855" cy="59436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457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D3D"/>
                </a:solidFill>
                <a:latin typeface="Calibri"/>
              </a:rPr>
              <a:t>Birim izolasyonu:  </a:t>
            </a:r>
            <a:r>
              <a:rPr sz="1350" b="0" i="0">
                <a:solidFill>
                  <a:srgbClr val="546E7A"/>
                </a:solidFill>
                <a:latin typeface="Calibri"/>
              </a:rPr>
              <a:t>her kullanıcı UHGM veya UKOM birimlerinden birine atanır; bir birimin kaydına diğer birim hiçbir koşulda erişemez.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Sistem Mimarisi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3246120" cy="393192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mbria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React + TypeScript + MUI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697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Login — hızlı test girişi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FormWizard — dinamik form + "i" rehber butonu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Dashboard / Catalog / Detail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api.ts — merkezi istemci (X-User-Id header)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46120" cy="393192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2402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mbria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Spring Boot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54680"/>
            <a:ext cx="2697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AuthController — BCrypt doğrulama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FormController — RBAC + rehber verisi + CRUD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SecurityConfig — CORS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011680"/>
            <a:ext cx="3246120" cy="393192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2402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1B9A"/>
                </a:solidFill>
                <a:latin typeface="Cambria"/>
              </a:rPr>
              <a:t>VERİTABANI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60604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54680"/>
            <a:ext cx="2697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6A1B9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users / units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6A1B9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form_definitions  (schema_json → JSONB)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6A1B9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shift_forms  (form_data → JSONB)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1682496"/>
            <a:ext cx="5943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46E7A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3566160"/>
            <a:ext cx="59436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46E7A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133088"/>
            <a:ext cx="868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46E7A"/>
                </a:solidFill>
                <a:latin typeface="Calibri"/>
              </a:rPr>
              <a:t>REST + JSON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46E7A"/>
                </a:solidFill>
                <a:latin typeface="Calibri"/>
              </a:rPr>
              <a:t>(X-User-Id header)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3566160"/>
            <a:ext cx="59436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46E7A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133088"/>
            <a:ext cx="868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46E7A"/>
                </a:solidFill>
                <a:latin typeface="Calibri"/>
              </a:rPr>
              <a:t>JPA /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46E7A"/>
                </a:solidFill>
                <a:latin typeface="Calibri"/>
              </a:rPr>
              <a:t>Hibernate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46E7A"/>
                </a:solidFill>
                <a:latin typeface="Calibri"/>
              </a:rPr>
              <a:t>Not:  Gerçek bir JWT/oturum mekanizması henüz yok — X-User-Id, sunucuda DB'den doğrulanan geçici kimliklendirme yöntemidir.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VERI MODELI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Veritabanı Yapısı (ER Diyagramı)</a:t>
            </a:r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85" y="1417320"/>
            <a:ext cx="8747723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46E7A"/>
                </a:solidFill>
                <a:latin typeface="Calibri"/>
              </a:rPr>
              <a:t>form_data ve schema_json alanları JSONB olarak tutulur — şablon esnekliği DB şeması değişmeden sağlanır.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SÜREÇ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Uçtan Uca İş Akışı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092" y="1417320"/>
            <a:ext cx="662351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SÜREÇ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Form Statü Akışı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167" y="246888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167" y="263347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167" y="30358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(Sepette)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5567" y="2468880"/>
            <a:ext cx="4206240" cy="1051560"/>
          </a:xfrm>
          <a:prstGeom prst="roundRect">
            <a:avLst>
              <a:gd name="adj" fmla="val 6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5567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PENDING_MANAGER_APPROVAL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567" y="30358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(Yönetici Onayı Bekliyor)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4767" y="246888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4767" y="263347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4767" y="30358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(Tamamlandı)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8327" y="2423160"/>
            <a:ext cx="7315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46E7A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2423160"/>
            <a:ext cx="7315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46E7A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407" y="374904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Personel: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"Vardiyayı Devret" (toplu gönderim)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047" y="37490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Yönetici: "Onayla"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(sadece kendi birimi — sunucu tarafında doğrulanır)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776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DRAFT: form, personelin tarayıcısındaki "sepet"tedir; henüz sunucuya kalıcı olarak yazılmamıştır.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Statü geçişleri tek yönlüdür ve backend'de sunucu tarafında (rol + birim kontrolüyle) doğrulanır — istemciye güvenilmez.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FORM MOTORU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Dinamik Form Altyapısı ve Güvenlik Ağı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09928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18488"/>
            <a:ext cx="3291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mbria"/>
              </a:rPr>
              <a:t>Şema Backend'den Gelir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618488"/>
            <a:ext cx="633953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Form soruları (schemaJson) koda gömülü değildir. Backend JSON döner, frontend bu JSON'ı okuyarak ekranı dinamik olarak çizer.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71800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72968"/>
            <a:ext cx="3291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mbria"/>
              </a:rPr>
              <a:t>Şarta Bağlı Sorular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172968"/>
            <a:ext cx="633953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"dependsOn" alanı ile ikincil sorular yalnızca ana soruya belirli bir cevap verildiğinde görünür (örn. "Anomali var mı? Evet" → detay sorusu açılır).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26280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818888"/>
            <a:ext cx="548640" cy="54864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727448"/>
            <a:ext cx="3291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mbria"/>
              </a:rPr>
              <a:t>Fallback UI (Güvenlik Ağı)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727448"/>
            <a:ext cx="633953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46E7A"/>
                </a:solidFill>
                <a:latin typeface="Calibri"/>
              </a:rPr>
              <a:t>Backend'den hatalı/eksik şema gelirse uygulama çökmez; formu basit liste görünümünde (ham anahtar–değer) render eder.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SON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Güvenlik ve Veri İzolasyonu Sıkılaştırması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417320"/>
            <a:ext cx="4343400" cy="4572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1417320"/>
            <a:ext cx="4343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Calibri"/>
              </a:rPr>
              <a:t>ÖNCE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0" y="1417320"/>
            <a:ext cx="4343400" cy="4572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0" y="1417320"/>
            <a:ext cx="4343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SONRA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011680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Kimlik Doğrulama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11680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011680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46E7A"/>
                </a:solidFill>
                <a:latin typeface="Calibri"/>
              </a:rPr>
              <a:t>Şifre kontrol edilmiyordu (kullanıcı adı yeterliydi)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2011680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BCrypt ile gerçek şifre doğrulama; hatalı girişte 401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25496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25496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Veri İzolasyonu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825496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825496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46E7A"/>
                </a:solidFill>
                <a:latin typeface="Calibri"/>
              </a:rPr>
              <a:t>Sadece arayüzde (client-side) filtreleniyordu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825496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825496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Sunucu tarafında X-User-Id + DB'den rol/birim ile zorunlu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39312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639312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Form Sahipliği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639312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639312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46E7A"/>
                </a:solidFill>
                <a:latin typeface="Calibri"/>
              </a:rPr>
              <a:t>Formu kimin oluşturduğu hiç kaydedilmiyordu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0" y="3639312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639312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Her form, oluşturan kullanıcıya (devreden) bağlanıyor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53128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453128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Onay Yetkisi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453128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453128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46E7A"/>
                </a:solidFill>
                <a:latin typeface="Calibri"/>
              </a:rPr>
              <a:t>API açıktı — herkes onaylayabiliyordu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4453128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4453128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Sadece ilgili birimin yöneticisi, sunucuda doğrulanarak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66944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266944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API Adresleri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5266944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5266944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46E7A"/>
                </a:solidFill>
                <a:latin typeface="Calibri"/>
              </a:rPr>
              <a:t>5 farklı dosyada hardcoded localhost:8080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0" y="5266944"/>
            <a:ext cx="4343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5266944"/>
            <a:ext cx="3977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Tek merkezi istemci (api.ts) üzerinden yönetiliyor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YENI ÖZELLIK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Alan Bazlı Geçmiş Rehberi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46E7A"/>
                </a:solidFill>
                <a:latin typeface="Calibri"/>
              </a:rPr>
              <a:t>Eb/No Programı (Ankara 2.4m)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221992"/>
            <a:ext cx="3749040" cy="502920"/>
          </a:xfrm>
          <a:prstGeom prst="rect">
            <a:avLst/>
          </a:prstGeom>
          <a:solidFill>
            <a:srgbClr val="F7F9FA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21992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Çalışıyor</a:t>
            </a:r>
          </a:p>
        </p:txBody>
      </p:sp>
      <p:sp>
        <p:nvSpPr>
          <p:cNvPr id="8" name="Oval 7"/>
          <p:cNvSpPr/>
          <p:nvPr/>
        </p:nvSpPr>
        <p:spPr>
          <a:xfrm>
            <a:off x="5029200" y="2295144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999232"/>
            <a:ext cx="4480560" cy="169164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163824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ADCFC"/>
                </a:solidFill>
                <a:latin typeface="Calibri"/>
              </a:rPr>
              <a:t>"Eb/No Programı" — Son 10 Gün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47872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Çalışıyor      (29 Tem 2026)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Çalışıyor      (28 Tem 2026)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Çalışmıyor   (26 Tem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1947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46E7A"/>
                </a:solidFill>
                <a:latin typeface="Calibri"/>
              </a:rPr>
              <a:t>Üzerine gelinen "i" butonu, o alana ait geçmiş girişleri anında gösterir.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2879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D3D"/>
                </a:solidFill>
                <a:latin typeface="Calibri"/>
              </a:rPr>
              <a:t>Her form alanının yanında küçük bir "i" (bilgi) butonu bulunur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D3D"/>
                </a:solidFill>
                <a:latin typeface="Calibri"/>
              </a:rPr>
              <a:t>Üzerine gelindiğinde, o alana son 10 gün içinde girilmiş değerler tarihleriyle listelenir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D3D"/>
                </a:solidFill>
                <a:latin typeface="Calibri"/>
              </a:rPr>
              <a:t>Amaç: formu dolduran personele "genelde buraya ne yazılıyor" rehberliği sağlamak ve tutarlılığı artırmak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D3D"/>
                </a:solidFill>
                <a:latin typeface="Calibri"/>
              </a:rPr>
              <a:t>Kayıt yoksa "bulunamadı" mesajı gösterilir — boş ekran veya hata değil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92040"/>
            <a:ext cx="5287975" cy="123444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5029200"/>
            <a:ext cx="4739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TEKNİK UÇ NOKTA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21808"/>
            <a:ext cx="4739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ourier New"/>
              </a:rPr>
              <a:t>GET /api/forms/{menuKey}/field-history/{fieldKey}?days=10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ALT YAPI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Teknoloji Yığını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427" y="155448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06727" y="1874520"/>
            <a:ext cx="1005840" cy="10058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427" y="310896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1295C"/>
                </a:solidFill>
                <a:latin typeface="Cambria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370332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370332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React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187" y="420624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420624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TypeScript (strict)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187" y="470916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187" y="470916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Material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627" y="155448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92927" y="1874520"/>
            <a:ext cx="1005840" cy="10058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5627" y="310896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1295C"/>
                </a:solidFill>
                <a:latin typeface="Cambria"/>
              </a:rP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1387" y="370332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1387" y="370332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Spring Boot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1387" y="420624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1387" y="420624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Spring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1387" y="470916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1387" y="470916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JPA / Hibernate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1827" y="155448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9127" y="1874520"/>
            <a:ext cx="1005840" cy="100584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1827" y="310896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1295C"/>
                </a:solidFill>
                <a:latin typeface="Cambria"/>
              </a:rPr>
              <a:t>Veritabanı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87587" y="370332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87587" y="370332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PostgreSQL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87587" y="420624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87587" y="420624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JSONB (esnek şema)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87587" y="470916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7587" y="4709160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F2D3D"/>
                </a:solidFill>
                <a:latin typeface="Calibri"/>
              </a:rPr>
              <a:t>Soft-delete alanları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SONRAKI ADIMLAR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mbria"/>
              </a:rPr>
              <a:t>Bilinen Kısıtlar ve Yol Haritası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7C00"/>
                </a:solidFill>
                <a:latin typeface="Cambria"/>
              </a:rPr>
              <a:t>Bilinen Kısıtlar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50" b="1" i="0">
                <a:solidFill>
                  <a:srgbClr val="F57C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Gerçek oturum/token (JWT) yok; X-User-Id geçici bir kimliklendirme yöntemi</a:t>
            </a:r>
          </a:p>
          <a:p>
            <a:pPr>
              <a:spcAft>
                <a:spcPts val="1400"/>
              </a:spcAft>
            </a:pPr>
            <a:r>
              <a:rPr sz="1350" b="1" i="0">
                <a:solidFill>
                  <a:srgbClr val="F57C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Form listesinde sayfalama yok — kayıt sayısı arttıkça yavaşlayabilir</a:t>
            </a:r>
          </a:p>
          <a:p>
            <a:pPr>
              <a:spcAft>
                <a:spcPts val="1400"/>
              </a:spcAft>
            </a:pPr>
            <a:r>
              <a:rPr sz="1350" b="1" i="0">
                <a:solidFill>
                  <a:srgbClr val="F57C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Taslaklar yalnızca tarayıcı hafızasında tutulur; sayfa yenilenince kaybolur</a:t>
            </a:r>
          </a:p>
          <a:p>
            <a:pPr>
              <a:spcAft>
                <a:spcPts val="1400"/>
              </a:spcAft>
            </a:pPr>
            <a:r>
              <a:rPr sz="1350" b="1" i="0">
                <a:solidFill>
                  <a:srgbClr val="F57C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Şema hâlâ backend koduna gömülü (FormSchemaProvider) — DB'deki JSONB alanı henüz kullanılmıyor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mbria"/>
              </a:rPr>
              <a:t>Önerilen Sonraki Adımlar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JWT tabanlı oturum yönetimine geçiş</a:t>
            </a:r>
          </a:p>
          <a:p>
            <a:pPr>
              <a:spcAft>
                <a:spcPts val="1400"/>
              </a:spcAft>
            </a:pPr>
            <a:r>
              <a:rPr sz="13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Form listesine sayfalama ve filtreleme eklenmesi</a:t>
            </a:r>
          </a:p>
          <a:p>
            <a:pPr>
              <a:spcAft>
                <a:spcPts val="1400"/>
              </a:spcAft>
            </a:pPr>
            <a:r>
              <a:rPr sz="13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Taslakların backend'de gerçek DRAFT kaydı olarak persist edilmesi</a:t>
            </a:r>
          </a:p>
          <a:p>
            <a:pPr>
              <a:spcAft>
                <a:spcPts val="1400"/>
              </a:spcAft>
            </a:pPr>
            <a:r>
              <a:rPr sz="1350" b="1" i="0">
                <a:solidFill>
                  <a:srgbClr val="065A82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D3D"/>
                </a:solidFill>
                <a:latin typeface="Calibri"/>
              </a:rPr>
              <a:t>Form şemalarının veritabanındaki JSONB alanından okunması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"/>
              </a:rPr>
              <a:t>Vardiya Devir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73152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137160" cy="1371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5303520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5852160"/>
            <a:ext cx="146304" cy="1463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Teşekkürler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ADCFC"/>
                </a:solidFill>
                <a:latin typeface="Calibri"/>
              </a:rPr>
              <a:t>Sorular ve Geri Bildirimleriniz İçin Vaktinizi Ayırdığınız İçin Teşekkür Ederiz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BB5"/>
                </a:solidFill>
                <a:latin typeface="Calibri"/>
              </a:rPr>
              <a:t>Vardiya Devir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